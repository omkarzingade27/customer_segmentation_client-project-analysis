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72" r:id="rId7"/>
    <p:sldId id="263" r:id="rId8"/>
    <p:sldId id="271" r:id="rId9"/>
    <p:sldId id="264" r:id="rId10"/>
    <p:sldId id="265" r:id="rId11"/>
    <p:sldId id="273" r:id="rId12"/>
    <p:sldId id="274" r:id="rId13"/>
    <p:sldId id="275" r:id="rId14"/>
    <p:sldId id="270" r:id="rId15"/>
    <p:sldId id="268" r:id="rId16"/>
    <p:sldId id="276" r:id="rId17"/>
    <p:sldId id="282" r:id="rId18"/>
    <p:sldId id="283" r:id="rId19"/>
    <p:sldId id="279" r:id="rId20"/>
    <p:sldId id="281" r:id="rId21"/>
    <p:sldId id="277" r:id="rId22"/>
    <p:sldId id="278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df52575117424b159435342114ea11f4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3791-C90E-A5A9-D358-1D063CDC5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0385" y="276789"/>
            <a:ext cx="8791575" cy="127670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</a:t>
            </a:r>
            <a:b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Shopping Trends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481D3-96B6-60A7-1E2A-7E666AEB2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680" y="1642880"/>
            <a:ext cx="8791575" cy="4727864"/>
          </a:xfrm>
        </p:spPr>
        <p:txBody>
          <a:bodyPr>
            <a:normAutofit fontScale="25000" lnSpcReduction="20000"/>
          </a:bodyPr>
          <a:lstStyle/>
          <a:p>
            <a:r>
              <a:rPr lang="en-US" sz="8800" cap="none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Client Project </a:t>
            </a:r>
            <a:r>
              <a:rPr lang="en-US" sz="8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: </a:t>
            </a:r>
            <a:r>
              <a:rPr lang="en-US" sz="8800" cap="none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Customer Segmentation </a:t>
            </a:r>
            <a:br>
              <a:rPr lang="en-US" sz="8800" cap="none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8800" cap="none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                (</a:t>
            </a:r>
            <a:r>
              <a:rPr lang="en-US" sz="8800" cap="none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project_shopping_trends</a:t>
            </a:r>
            <a:r>
              <a:rPr lang="en-US" sz="8800" cap="none" dirty="0">
                <a:solidFill>
                  <a:schemeClr val="bg1">
                    <a:lumMod val="85000"/>
                    <a:lumOff val="15000"/>
                  </a:schemeClr>
                </a:solidFill>
              </a:rPr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8800" cap="none" dirty="0">
                <a:solidFill>
                  <a:srgbClr val="002060"/>
                </a:solidFill>
              </a:rPr>
              <a:t>Project</a:t>
            </a:r>
            <a:r>
              <a:rPr lang="en-US" sz="8800" dirty="0">
                <a:solidFill>
                  <a:srgbClr val="002060"/>
                </a:solidFill>
              </a:rPr>
              <a:t> </a:t>
            </a:r>
            <a:r>
              <a:rPr lang="en-US" sz="8800" cap="none" dirty="0">
                <a:solidFill>
                  <a:srgbClr val="002060"/>
                </a:solidFill>
              </a:rPr>
              <a:t>Id: </a:t>
            </a:r>
            <a:r>
              <a:rPr lang="en-IN" sz="8800" dirty="0">
                <a:solidFill>
                  <a:srgbClr val="002060"/>
                </a:solidFill>
              </a:rPr>
              <a:t>CDACL002 - </a:t>
            </a:r>
            <a:r>
              <a:rPr lang="en-IN" sz="8800" cap="none" dirty="0">
                <a:solidFill>
                  <a:srgbClr val="002060"/>
                </a:solidFill>
              </a:rPr>
              <a:t>Customer Segmentation</a:t>
            </a:r>
            <a:r>
              <a:rPr lang="en-US" dirty="0">
                <a:solidFill>
                  <a:srgbClr val="002060"/>
                </a:solidFill>
              </a:rPr>
              <a:t>                                                                                                                                                             </a:t>
            </a:r>
            <a:r>
              <a:rPr lang="en-US" sz="3600" dirty="0"/>
              <a:t>             </a:t>
            </a:r>
          </a:p>
          <a:p>
            <a:r>
              <a:rPr lang="en-US" sz="8800" cap="none" dirty="0">
                <a:solidFill>
                  <a:srgbClr val="002060"/>
                </a:solidFill>
              </a:rPr>
              <a:t>Project Team Id</a:t>
            </a:r>
            <a:r>
              <a:rPr lang="en-US" sz="8800" dirty="0">
                <a:solidFill>
                  <a:srgbClr val="002060"/>
                </a:solidFill>
              </a:rPr>
              <a:t>.: PTID-CDA-AUG-25-661</a:t>
            </a:r>
          </a:p>
          <a:p>
            <a:r>
              <a:rPr lang="en-US" sz="8800" cap="none" dirty="0">
                <a:solidFill>
                  <a:srgbClr val="002060"/>
                </a:solidFill>
              </a:rPr>
              <a:t>Date:</a:t>
            </a:r>
            <a:r>
              <a:rPr lang="en-US" sz="8800" dirty="0">
                <a:solidFill>
                  <a:srgbClr val="002060"/>
                </a:solidFill>
              </a:rPr>
              <a:t> 20/12/2025.</a:t>
            </a:r>
          </a:p>
          <a:p>
            <a:r>
              <a:rPr lang="en-US" sz="8800" dirty="0">
                <a:solidFill>
                  <a:schemeClr val="bg2">
                    <a:lumMod val="50000"/>
                  </a:schemeClr>
                </a:solidFill>
              </a:rPr>
              <a:t>- By </a:t>
            </a:r>
            <a:br>
              <a:rPr lang="en-US" sz="8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8800" cap="none" dirty="0">
                <a:solidFill>
                  <a:schemeClr val="bg2">
                    <a:lumMod val="50000"/>
                  </a:schemeClr>
                </a:solidFill>
              </a:rPr>
              <a:t>Onkar </a:t>
            </a:r>
            <a:r>
              <a:rPr lang="en-US" sz="8800" cap="none" dirty="0" err="1">
                <a:solidFill>
                  <a:schemeClr val="bg2">
                    <a:lumMod val="50000"/>
                  </a:schemeClr>
                </a:solidFill>
              </a:rPr>
              <a:t>Jhingade</a:t>
            </a:r>
            <a:r>
              <a:rPr lang="en-US" sz="8800" cap="none" dirty="0">
                <a:solidFill>
                  <a:schemeClr val="bg2">
                    <a:lumMod val="50000"/>
                  </a:schemeClr>
                </a:solidFill>
              </a:rPr>
              <a:t>,</a:t>
            </a:r>
            <a:br>
              <a:rPr lang="en-US" sz="8800" cap="none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8800" cap="none" dirty="0">
                <a:solidFill>
                  <a:schemeClr val="bg2">
                    <a:lumMod val="50000"/>
                  </a:schemeClr>
                </a:solidFill>
              </a:rPr>
              <a:t>Nimish </a:t>
            </a:r>
            <a:r>
              <a:rPr lang="en-US" sz="8800" cap="none" dirty="0" err="1">
                <a:solidFill>
                  <a:schemeClr val="bg2">
                    <a:lumMod val="50000"/>
                  </a:schemeClr>
                </a:solidFill>
              </a:rPr>
              <a:t>Bibave</a:t>
            </a:r>
            <a:r>
              <a:rPr lang="en-US" sz="8800" cap="none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8800" dirty="0">
                <a:solidFill>
                  <a:schemeClr val="bg2">
                    <a:lumMod val="50000"/>
                  </a:schemeClr>
                </a:solidFill>
              </a:rPr>
              <a:t>,                                                                                                                                      </a:t>
            </a:r>
            <a:br>
              <a:rPr lang="en-US" sz="8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8800" cap="none" dirty="0">
                <a:solidFill>
                  <a:schemeClr val="bg2">
                    <a:lumMod val="50000"/>
                  </a:schemeClr>
                </a:solidFill>
              </a:rPr>
              <a:t>Mayur Mate</a:t>
            </a:r>
            <a:r>
              <a:rPr lang="en-US" sz="88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21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ABF6-B873-912D-B0D3-D6160E5D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41873"/>
            <a:ext cx="9905998" cy="940118"/>
          </a:xfrm>
        </p:spPr>
        <p:txBody>
          <a:bodyPr/>
          <a:lstStyle/>
          <a:p>
            <a:r>
              <a:rPr lang="en-IN" dirty="0"/>
              <a:t>Introduction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437FF-01A9-2309-5E38-319395CB5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381991"/>
            <a:ext cx="9905999" cy="44783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Customer Segmentation: is a data analytics technique for unlocking Shopping Insights.</a:t>
            </a:r>
          </a:p>
          <a:p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This dataset encompasses various features related to customer shopping preferences, gathering essential information for businesses seeking to enhance their understanding of their customer base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features and interactions with promotional offers is included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With a collection of 3900 records, this dataset is a foundation for businesses looking to apply data-driven insights for better decision-making and customer-centric strategies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669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C3E4-02E4-A1B2-D8CE-BC887AB1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10700"/>
            <a:ext cx="9905998" cy="773864"/>
          </a:xfrm>
        </p:spPr>
        <p:txBody>
          <a:bodyPr/>
          <a:lstStyle/>
          <a:p>
            <a:r>
              <a:rPr lang="en-IN" dirty="0"/>
              <a:t>Objectives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EB302-2316-D9EB-D484-184E400F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78083"/>
            <a:ext cx="9905999" cy="46912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objective of this customer segmentation is: 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analyze customer purchasing behavior and trends.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segment customers into meaningful clusters based on their shopping patterns.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identify high-value and low-engagement customer groups.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To provide data-driven insights for targeted marketing strategies.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Business Goal: 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Enable shoppers (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U.S. market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) to optimize promotions, improve customer experience, and increase revenue through customer segmentation.</a:t>
            </a:r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21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298A-846F-2332-E3FD-178D62F9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393" y="361212"/>
            <a:ext cx="9905998" cy="815427"/>
          </a:xfrm>
        </p:spPr>
        <p:txBody>
          <a:bodyPr/>
          <a:lstStyle/>
          <a:p>
            <a:r>
              <a:rPr lang="en-US" cap="none" dirty="0"/>
              <a:t>Attribute Information :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7AA8F-46B6-A0C5-31EF-FE0A9EA3D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392" y="1176639"/>
            <a:ext cx="9905999" cy="48629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Customer ID -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Unique identifier for each customer</a:t>
            </a:r>
          </a:p>
          <a:p>
            <a:pPr>
              <a:lnSpc>
                <a:spcPct val="13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Age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- Age of the customer</a:t>
            </a:r>
          </a:p>
          <a:p>
            <a:pPr>
              <a:lnSpc>
                <a:spcPct val="13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Gender -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Gender of the customer (Male/Female)</a:t>
            </a:r>
          </a:p>
          <a:p>
            <a:pPr>
              <a:lnSpc>
                <a:spcPct val="13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Item Purchased -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item purchased by the customer</a:t>
            </a:r>
          </a:p>
          <a:p>
            <a:pPr>
              <a:lnSpc>
                <a:spcPct val="13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Category -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Category of the item purchased</a:t>
            </a:r>
          </a:p>
          <a:p>
            <a:pPr>
              <a:lnSpc>
                <a:spcPct val="13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Purchase Amount (USD) -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amount of the purchase in USD</a:t>
            </a:r>
          </a:p>
          <a:p>
            <a:pPr>
              <a:lnSpc>
                <a:spcPct val="13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Location -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Location where the purchase was made</a:t>
            </a:r>
          </a:p>
          <a:p>
            <a:pPr>
              <a:lnSpc>
                <a:spcPct val="13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Size -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Size of the purchased item</a:t>
            </a:r>
          </a:p>
          <a:p>
            <a:pPr>
              <a:lnSpc>
                <a:spcPct val="130000"/>
              </a:lnSpc>
            </a:pPr>
            <a:r>
              <a:rPr lang="en-IN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Color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-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IN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Color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of the purchased item</a:t>
            </a:r>
          </a:p>
          <a:p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95744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D1D9-473A-56D2-0ECA-151FD661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cap="none" dirty="0"/>
              <a:t>Attribute Information </a:t>
            </a:r>
            <a:r>
              <a:rPr lang="en-IN" u="sng" dirty="0"/>
              <a:t>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1031-1DC2-0BE0-E64C-D00EF24EA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85900"/>
            <a:ext cx="9905999" cy="430530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Season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- Season during which the purchase was made</a:t>
            </a:r>
          </a:p>
          <a:p>
            <a:pPr>
              <a:lnSpc>
                <a:spcPct val="14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Review Rating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- Rating given by the customer for the purchased item</a:t>
            </a:r>
          </a:p>
          <a:p>
            <a:pPr>
              <a:lnSpc>
                <a:spcPct val="14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Subscription Status -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Indicates if the customer has a subscription (Yes/No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Discount Applied -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Indicates if a discount was applied to the purchase (Yes/No)</a:t>
            </a:r>
          </a:p>
          <a:p>
            <a:pPr>
              <a:lnSpc>
                <a:spcPct val="14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Promo Code Used -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Indicates if a promo code was used for the purchase (Yes/No)</a:t>
            </a:r>
          </a:p>
          <a:p>
            <a:pPr>
              <a:lnSpc>
                <a:spcPct val="14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Payment Method -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Customer's most preferred payment method</a:t>
            </a:r>
          </a:p>
          <a:p>
            <a:pPr>
              <a:lnSpc>
                <a:spcPct val="140000"/>
              </a:lnSpc>
            </a:pP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Frequency of Purchases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- Frequency at which the customer makes purchases (e.g., Weekly, Fortnightly, Monthly)</a:t>
            </a:r>
          </a:p>
          <a:p>
            <a:endParaRPr lang="en-IN" dirty="0"/>
          </a:p>
          <a:p>
            <a:pPr marL="0" indent="0">
              <a:buNone/>
            </a:pPr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55228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FC56-00D4-7157-FAE3-DE2B204F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62237"/>
          </a:xfrm>
        </p:spPr>
        <p:txBody>
          <a:bodyPr/>
          <a:lstStyle/>
          <a:p>
            <a:r>
              <a:rPr lang="en-IN" cap="none" dirty="0"/>
              <a:t>Tools &amp; Technologies Used: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39D98F-DB3B-3D4E-5DEC-28F00416DB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7667" y="2614192"/>
            <a:ext cx="8781906" cy="20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spcAft>
                <a:spcPct val="0"/>
              </a:spcAft>
            </a:pPr>
            <a:r>
              <a:rPr lang="en-US" altLang="en-US" sz="22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MySQL Workbench</a:t>
            </a:r>
          </a:p>
          <a:p>
            <a:pPr marL="0" marR="0" lvl="0" indent="0" fontAlgn="base">
              <a:spcAft>
                <a:spcPct val="0"/>
              </a:spcAft>
              <a:buClr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Python (Pandas, NumPy, Scikit-learn, Matplotlib, Seaborn)</a:t>
            </a:r>
          </a:p>
          <a:p>
            <a:pPr marL="0" marR="0" lvl="0" indent="0" fontAlgn="base">
              <a:spcAft>
                <a:spcPct val="0"/>
              </a:spcAft>
              <a:buClr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200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Jupyter</a:t>
            </a:r>
            <a:r>
              <a:rPr lang="en-US" altLang="en-US" sz="22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Notebook</a:t>
            </a:r>
          </a:p>
          <a:p>
            <a:pPr marL="0" marR="0" lvl="0" indent="0" fontAlgn="base">
              <a:spcAft>
                <a:spcPct val="0"/>
              </a:spcAft>
              <a:buClr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Microsoft PowerPoint</a:t>
            </a:r>
          </a:p>
        </p:txBody>
      </p:sp>
    </p:spTree>
    <p:extLst>
      <p:ext uri="{BB962C8B-B14F-4D97-AF65-F5344CB8AC3E}">
        <p14:creationId xmlns:p14="http://schemas.microsoft.com/office/powerpoint/2010/main" val="23919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1E54-88CD-EE5B-B0A1-C5F5EDC0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Methodology</a:t>
            </a:r>
            <a:r>
              <a:rPr lang="en-IN" dirty="0"/>
              <a:t>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5B26-4DC4-9B04-86F8-4DF17CD2E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04108"/>
            <a:ext cx="9905999" cy="4696691"/>
          </a:xfrm>
        </p:spPr>
        <p:txBody>
          <a:bodyPr>
            <a:normAutofit/>
          </a:bodyPr>
          <a:lstStyle/>
          <a:p>
            <a:r>
              <a:rPr lang="en-US" altLang="en-US" sz="2200" b="1" dirty="0" err="1">
                <a:solidFill>
                  <a:srgbClr val="002060"/>
                </a:solidFill>
              </a:rPr>
              <a:t>DataBase</a:t>
            </a:r>
            <a:r>
              <a:rPr lang="en-US" altLang="en-US" sz="2200" b="1" dirty="0">
                <a:solidFill>
                  <a:srgbClr val="002060"/>
                </a:solidFill>
              </a:rPr>
              <a:t>:</a:t>
            </a:r>
            <a:r>
              <a:rPr lang="en-US" altLang="en-US" sz="2200" dirty="0">
                <a:solidFill>
                  <a:srgbClr val="002060"/>
                </a:solidFill>
              </a:rPr>
              <a:t> </a:t>
            </a:r>
            <a:r>
              <a:rPr lang="en-IN" sz="22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project shopping trends</a:t>
            </a:r>
            <a:r>
              <a:rPr lang="en-US" alt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(Table Name: </a:t>
            </a:r>
            <a:r>
              <a:rPr lang="en-US" altLang="en-US" sz="2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shopping_table</a:t>
            </a:r>
            <a:r>
              <a:rPr lang="en-US" alt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en-US" altLang="en-US" sz="2200" b="1" dirty="0">
                <a:solidFill>
                  <a:srgbClr val="002060"/>
                </a:solidFill>
              </a:rPr>
              <a:t>Steps Performed :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Database connection from given credentials. </a:t>
            </a:r>
          </a:p>
          <a:p>
            <a:pPr marL="457200" indent="-457200">
              <a:buAutoNum type="arabicPeriod"/>
            </a:pPr>
            <a:r>
              <a:rPr lang="en-IN" sz="2200" b="1" dirty="0">
                <a:solidFill>
                  <a:srgbClr val="002060"/>
                </a:solidFill>
              </a:rPr>
              <a:t>Data Collection: </a:t>
            </a:r>
            <a:br>
              <a:rPr lang="en-IN" sz="2200" dirty="0"/>
            </a:br>
            <a: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</a:t>
            </a:r>
            <a:r>
              <a:rPr lang="en-US" sz="2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ataset</a:t>
            </a: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was exported from MySQL database into CSV format,</a:t>
            </a:r>
            <a:b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Loaded into Python using Pandas library by using </a:t>
            </a:r>
            <a:r>
              <a:rPr lang="en-US" sz="2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Jupyter</a:t>
            </a: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Notebook.</a:t>
            </a:r>
          </a:p>
          <a:p>
            <a:pPr marL="457200" indent="-457200">
              <a:buAutoNum type="arabicPeriod"/>
            </a:pPr>
            <a:r>
              <a:rPr lang="en-IN" sz="2200" b="1" dirty="0">
                <a:solidFill>
                  <a:srgbClr val="002060"/>
                </a:solidFill>
              </a:rPr>
              <a:t>Data Preprocessing: </a:t>
            </a:r>
            <a:br>
              <a:rPr lang="en-IN" sz="2200" dirty="0"/>
            </a:br>
            <a: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Handled missing values</a:t>
            </a:r>
            <a:b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Selected relevant numerical features</a:t>
            </a:r>
            <a:br>
              <a:rPr lang="en-IN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Applied Standard Scaler for feature normalization.</a:t>
            </a:r>
            <a:endParaRPr lang="en-US" altLang="en-US" sz="22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b="1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775096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D505-A6F7-3DBD-4FBE-8B4E75D95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A630-67D1-3862-C7B3-5D0C95E9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277" y="296399"/>
            <a:ext cx="9905998" cy="536514"/>
          </a:xfrm>
        </p:spPr>
        <p:txBody>
          <a:bodyPr>
            <a:normAutofit fontScale="90000"/>
          </a:bodyPr>
          <a:lstStyle/>
          <a:p>
            <a:r>
              <a:rPr lang="en-IN" cap="none" dirty="0"/>
              <a:t>Methodology</a:t>
            </a:r>
            <a:r>
              <a:rPr lang="en-IN" dirty="0"/>
              <a:t>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09A8-3254-DD83-A0CD-6B60024DB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277" y="832913"/>
            <a:ext cx="9905999" cy="5848441"/>
          </a:xfrm>
        </p:spPr>
        <p:txBody>
          <a:bodyPr>
            <a:normAutofit fontScale="25000" lnSpcReduction="20000"/>
          </a:bodyPr>
          <a:lstStyle/>
          <a:p>
            <a:r>
              <a:rPr lang="en-US" altLang="en-US" sz="8000" b="1" dirty="0">
                <a:solidFill>
                  <a:srgbClr val="002060"/>
                </a:solidFill>
              </a:rPr>
              <a:t>Steps Performed :</a:t>
            </a:r>
          </a:p>
          <a:p>
            <a:pPr marL="0" indent="0">
              <a:buNone/>
            </a:pPr>
            <a:r>
              <a:rPr lang="en-IN" sz="8000" b="1" dirty="0">
                <a:solidFill>
                  <a:srgbClr val="002060"/>
                </a:solidFill>
              </a:rPr>
              <a:t>4. Exploratory Data Analysis (EDA) :</a:t>
            </a:r>
            <a:br>
              <a:rPr lang="en-IN" sz="8000" b="1" dirty="0">
                <a:solidFill>
                  <a:srgbClr val="002060"/>
                </a:solidFill>
              </a:rPr>
            </a:br>
            <a:r>
              <a:rPr lang="en-IN" sz="80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Analyzed</a:t>
            </a:r>
            <a:r>
              <a:rPr lang="en-IN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customer age distribution</a:t>
            </a:r>
            <a:br>
              <a:rPr lang="en-IN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Studied spending patterns and purchase frequency</a:t>
            </a:r>
            <a:b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Identified trends across product categories and seasons</a:t>
            </a:r>
          </a:p>
          <a:p>
            <a:pPr marL="0" indent="0">
              <a:buNone/>
            </a:pPr>
            <a:r>
              <a:rPr lang="en-US" sz="8000" b="1" dirty="0">
                <a:solidFill>
                  <a:srgbClr val="002060"/>
                </a:solidFill>
              </a:rPr>
              <a:t>5. </a:t>
            </a:r>
            <a:r>
              <a:rPr lang="en-IN" sz="8000" b="1" dirty="0">
                <a:solidFill>
                  <a:srgbClr val="002060"/>
                </a:solidFill>
              </a:rPr>
              <a:t>Customer Segmentation: </a:t>
            </a:r>
            <a:r>
              <a:rPr lang="en-IN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Applied </a:t>
            </a:r>
            <a:r>
              <a:rPr lang="en-IN" sz="8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K-Means Clustering</a:t>
            </a:r>
            <a:r>
              <a:rPr lang="en-IN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algorithm</a:t>
            </a:r>
            <a:br>
              <a:rPr lang="en-IN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Features used:</a:t>
            </a:r>
          </a:p>
          <a:p>
            <a: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Age</a:t>
            </a:r>
          </a:p>
          <a:p>
            <a: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Purchase Amount</a:t>
            </a:r>
          </a:p>
          <a:p>
            <a: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Review Rating</a:t>
            </a:r>
          </a:p>
          <a:p>
            <a: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Previous Purchases</a:t>
            </a:r>
          </a:p>
          <a:p>
            <a:pPr marL="0" indent="0">
              <a:buNone/>
            </a:pPr>
            <a:r>
              <a:rPr lang="en-US" sz="8000" b="1" dirty="0">
                <a:solidFill>
                  <a:srgbClr val="002060"/>
                </a:solidFill>
              </a:rPr>
              <a:t>6. </a:t>
            </a:r>
            <a:r>
              <a:rPr lang="en-IN" sz="8000" b="1" dirty="0">
                <a:solidFill>
                  <a:srgbClr val="002060"/>
                </a:solidFill>
              </a:rPr>
              <a:t>Insights &amp; Interpretation: </a:t>
            </a:r>
            <a:br>
              <a:rPr lang="en-IN" sz="8000" dirty="0"/>
            </a:br>
            <a:r>
              <a:rPr lang="en-IN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Identified high-value customers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Detected frequent and loyal shoppers</a:t>
            </a:r>
          </a:p>
          <a:p>
            <a:pPr marL="0" indent="0">
              <a:buNone/>
            </a:pPr>
            <a:r>
              <a:rPr lang="en-IN" sz="8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Recognized low-engagement customer segments</a:t>
            </a:r>
            <a:br>
              <a:rPr lang="en-IN" sz="8000" b="1" dirty="0">
                <a:solidFill>
                  <a:srgbClr val="002060"/>
                </a:solidFill>
              </a:rPr>
            </a:br>
            <a:endParaRPr lang="en-IN" sz="8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alt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b="1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573945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C253-E163-5A5A-1757-F54B5EC8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27514"/>
            <a:ext cx="9905998" cy="1478570"/>
          </a:xfrm>
        </p:spPr>
        <p:txBody>
          <a:bodyPr/>
          <a:lstStyle/>
          <a:p>
            <a:r>
              <a:rPr lang="en-US" dirty="0"/>
              <a:t>Database connection 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1CC96-FDCB-CBC5-4B58-E0358F6F3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1866"/>
            <a:ext cx="9905999" cy="4024746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Connect the database with MySQL Workbench using the credentials provided.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81068-A352-F969-BF7B-314523D8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25890" y="2275609"/>
            <a:ext cx="7138891" cy="425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4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BAE95-0243-30E2-15AC-BB723B2C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92282"/>
            <a:ext cx="9905999" cy="5198919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Now using SQL Query (select * from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shopping_table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) get the data.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405C9-7A07-A66A-5869-B399A8CE3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26369" y="1174173"/>
            <a:ext cx="6208353" cy="537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9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8DBE8-3DBD-420E-E87B-BAAC84DA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071" y="259921"/>
            <a:ext cx="9905998" cy="1004928"/>
          </a:xfrm>
        </p:spPr>
        <p:txBody>
          <a:bodyPr/>
          <a:lstStyle/>
          <a:p>
            <a:r>
              <a:rPr lang="en-US" dirty="0"/>
              <a:t>STEP 1: Data Load And Check 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159BB0-FF2C-DFA0-3160-977BD88F8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554" y="1738850"/>
            <a:ext cx="8992046" cy="47715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0BCC0-5500-A1F5-8CAB-8976C97CC1DC}"/>
              </a:ext>
            </a:extLst>
          </p:cNvPr>
          <p:cNvSpPr txBox="1"/>
          <p:nvPr/>
        </p:nvSpPr>
        <p:spPr>
          <a:xfrm>
            <a:off x="1220071" y="1092519"/>
            <a:ext cx="7225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Using </a:t>
            </a:r>
            <a:r>
              <a:rPr lang="en-US" dirty="0" err="1"/>
              <a:t>Jupyter</a:t>
            </a:r>
            <a:r>
              <a:rPr lang="en-US" dirty="0"/>
              <a:t> Notebook first imports done OS, Libraries and then load data by proper path.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00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9E291-CE2A-ECB3-C3BF-24FE675D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7495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EDA :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03E497-078C-3A55-5F49-731C4B8F3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85133" y="1621409"/>
            <a:ext cx="5238996" cy="441275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7E92C-8286-CBDF-6AC5-B6500EC6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484" y="1621409"/>
            <a:ext cx="5406145" cy="441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94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AFF07177-7F6E-B50E-D4CF-BE139F27F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960" y="436730"/>
            <a:ext cx="9906000" cy="835189"/>
          </a:xfrm>
        </p:spPr>
        <p:txBody>
          <a:bodyPr>
            <a:noAutofit/>
          </a:bodyPr>
          <a:lstStyle/>
          <a:p>
            <a:r>
              <a:rPr lang="en-IN" sz="2200" dirty="0">
                <a:solidFill>
                  <a:srgbClr val="002060"/>
                </a:solidFill>
              </a:rPr>
              <a:t>Purchase Amount by Category, Frequency of Purchases count and </a:t>
            </a:r>
            <a:br>
              <a:rPr lang="en-IN" sz="2200" dirty="0">
                <a:solidFill>
                  <a:srgbClr val="002060"/>
                </a:solidFill>
              </a:rPr>
            </a:br>
            <a:r>
              <a:rPr lang="en-IN" sz="2200" dirty="0">
                <a:solidFill>
                  <a:srgbClr val="002060"/>
                </a:solidFill>
              </a:rPr>
              <a:t>Gender vs Spending &amp; Subscription vs Spending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ECDB20-2F28-7AC6-35DB-371C1C1A5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61" y="1485640"/>
            <a:ext cx="5676482" cy="4534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131AED-348C-7094-67EB-10D7C9CBE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910" y="1271919"/>
            <a:ext cx="4775644" cy="496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5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F07DAF-CBAA-C125-BE22-1A0B7BC6A179}"/>
              </a:ext>
            </a:extLst>
          </p:cNvPr>
          <p:cNvSpPr txBox="1"/>
          <p:nvPr/>
        </p:nvSpPr>
        <p:spPr>
          <a:xfrm>
            <a:off x="1604702" y="334011"/>
            <a:ext cx="85975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Subscription vs Spending and missing values: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A139DE-8D70-5DD3-8DAD-F1CFF1B79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84" y="1494095"/>
            <a:ext cx="9384632" cy="471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00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D766-6C82-5258-D69A-545FD792B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421" y="389534"/>
            <a:ext cx="9905999" cy="8886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Select features for clustering, Scaling and Elbo method for optimal K plot: </a:t>
            </a:r>
            <a:b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‘Number of Clusters’ Vs ‘Inertia’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BBAC17-9C19-E28A-E603-F5610A54E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79" y="1355970"/>
            <a:ext cx="5057257" cy="39632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DEBC33-CD5E-843C-05E4-308147BA0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271" y="1355970"/>
            <a:ext cx="6181265" cy="396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85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32FEA-4DCD-9CC1-C3EC-AFE3C3DA6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833" y="388602"/>
            <a:ext cx="9905999" cy="91080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Apply K-means and Visualization Cluster for ‘</a:t>
            </a:r>
            <a:r>
              <a:rPr lang="en-US" dirty="0" err="1">
                <a:solidFill>
                  <a:srgbClr val="002060"/>
                </a:solidFill>
              </a:rPr>
              <a:t>Purchase_Amount_USD</a:t>
            </a:r>
            <a:r>
              <a:rPr lang="en-US" dirty="0">
                <a:solidFill>
                  <a:srgbClr val="002060"/>
                </a:solidFill>
              </a:rPr>
              <a:t>’ Vs ‘</a:t>
            </a:r>
            <a:r>
              <a:rPr lang="en-US" dirty="0" err="1">
                <a:solidFill>
                  <a:srgbClr val="002060"/>
                </a:solidFill>
              </a:rPr>
              <a:t>Previous_Purchases</a:t>
            </a:r>
            <a:r>
              <a:rPr lang="en-US" dirty="0">
                <a:solidFill>
                  <a:srgbClr val="002060"/>
                </a:solidFill>
              </a:rPr>
              <a:t>’ 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5B27F-1B73-1269-FCF0-A0053F4C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74" y="1657909"/>
            <a:ext cx="5231475" cy="4101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5F5DC9-B81F-D779-AB20-07B51166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7909"/>
            <a:ext cx="5390308" cy="41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37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9A432-6ABB-4212-19EE-21EF31FC8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88603"/>
            <a:ext cx="9905999" cy="782471"/>
          </a:xfrm>
        </p:spPr>
        <p:txBody>
          <a:bodyPr/>
          <a:lstStyle/>
          <a:p>
            <a:r>
              <a:rPr lang="en-US" dirty="0"/>
              <a:t>Clustering (3 groups) + cluster profiling + dominant factors by using K-means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DC2A7-640C-3CA5-4B1B-912F4AF49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74526"/>
            <a:ext cx="10164097" cy="518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72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52EEF-4FA0-E047-B86C-ACA9FC066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08392"/>
            <a:ext cx="9905999" cy="1472282"/>
          </a:xfrm>
        </p:spPr>
        <p:txBody>
          <a:bodyPr/>
          <a:lstStyle/>
          <a:p>
            <a:r>
              <a:rPr lang="en-US" dirty="0"/>
              <a:t>2D PCA scatter for visualization# Generated 3 clusters and the dominance table highlights which features differentiate the clusters the most# (i.e., the dominant factors)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E6F31-587F-C73E-DCE6-CCCF83A00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13" y="1878997"/>
            <a:ext cx="5093109" cy="38690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62C404-DAFB-FAAC-9258-0AAC2023E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80" y="1878997"/>
            <a:ext cx="5828366" cy="373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04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5A4647-01F8-68DC-E9D5-C70413565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354" y="428680"/>
            <a:ext cx="9906000" cy="606007"/>
          </a:xfrm>
        </p:spPr>
        <p:txBody>
          <a:bodyPr/>
          <a:lstStyle/>
          <a:p>
            <a:r>
              <a:rPr lang="en-IN" dirty="0"/>
              <a:t>Cluster interpretation (sample)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1E0735-2F70-ABD3-5A67-89756E9F8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051670"/>
              </p:ext>
            </p:extLst>
          </p:nvPr>
        </p:nvGraphicFramePr>
        <p:xfrm>
          <a:off x="1465005" y="1153481"/>
          <a:ext cx="806824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34120">
                  <a:extLst>
                    <a:ext uri="{9D8B030D-6E8A-4147-A177-3AD203B41FA5}">
                      <a16:colId xmlns:a16="http://schemas.microsoft.com/office/drawing/2014/main" val="1713421219"/>
                    </a:ext>
                  </a:extLst>
                </a:gridCol>
                <a:gridCol w="4034120">
                  <a:extLst>
                    <a:ext uri="{9D8B030D-6E8A-4147-A177-3AD203B41FA5}">
                      <a16:colId xmlns:a16="http://schemas.microsoft.com/office/drawing/2014/main" val="2638044530"/>
                    </a:ext>
                  </a:extLst>
                </a:gridCol>
              </a:tblGrid>
              <a:tr h="3486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Trend Summary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623721"/>
                  </a:ext>
                </a:extLst>
              </a:tr>
              <a:tr h="3486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Cluster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High spenders, frequent buyers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427234"/>
                  </a:ext>
                </a:extLst>
              </a:tr>
              <a:tr h="3486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Cluster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Young, low spend, less loyal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587124"/>
                  </a:ext>
                </a:extLst>
              </a:tr>
              <a:tr h="3486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Cluster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Loyal customers, high repeat purchases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755705"/>
                  </a:ext>
                </a:extLst>
              </a:tr>
              <a:tr h="3486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Cluster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Moderate spenders, good satisfaction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2434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680076-9C21-1D38-8784-E651CB266D02}"/>
              </a:ext>
            </a:extLst>
          </p:cNvPr>
          <p:cNvSpPr txBox="1"/>
          <p:nvPr/>
        </p:nvSpPr>
        <p:spPr>
          <a:xfrm>
            <a:off x="1465005" y="3140403"/>
            <a:ext cx="85442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Category selection for discounts: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categories in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low_spend_low_rating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table are prime candidates for either product quality review or targeted discounts to boost conversion.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If a category already has very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high </a:t>
            </a:r>
            <a:r>
              <a:rPr lang="en-US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discount_rate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discounts may be saturated — check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promo_rate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vs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avg_spend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rgbClr val="002060"/>
                </a:solidFill>
              </a:rPr>
              <a:t>2. </a:t>
            </a:r>
            <a:r>
              <a:rPr lang="en-IN" dirty="0">
                <a:solidFill>
                  <a:srgbClr val="002060"/>
                </a:solidFill>
              </a:rPr>
              <a:t>Card spending by age: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Young (18-30) shows high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card_spend_share_pct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rgbClr val="002060"/>
                </a:solidFill>
              </a:rPr>
              <a:t>3. </a:t>
            </a:r>
            <a:r>
              <a:rPr lang="en-IN" dirty="0">
                <a:solidFill>
                  <a:srgbClr val="002060"/>
                </a:solidFill>
              </a:rPr>
              <a:t>Season &amp; Location:</a:t>
            </a:r>
          </a:p>
          <a:p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season_card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shows seasons with highest card spend; plan seasonal card offers then.</a:t>
            </a:r>
          </a:p>
          <a:p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loc_card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shows locations where card share is highest — target location-specific bank tie-ups.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635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5A5C86-6560-C3C3-62AD-DE316362E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090863"/>
            <a:ext cx="9906000" cy="4700337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4. </a:t>
            </a:r>
            <a:r>
              <a:rPr lang="en-IN" dirty="0">
                <a:solidFill>
                  <a:srgbClr val="002060"/>
                </a:solidFill>
              </a:rPr>
              <a:t>Clustering outcomes &amp; dominant factors: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cluster_profile.csv gives profiles (e.g., cluster with very high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total_spent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= high-value customers).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cluster_dominance_scores.csv ranks which features most differentiate clusters (likely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total_spent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freq_num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prev_purchases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avg_rating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).</a:t>
            </a:r>
          </a:p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“identified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different customer segments such as high spenders, frequent buyers, and price-sensitive customers.”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“For example, some customers had high purchase value but low frequency, while others were frequent buyers but depended on discounts.”</a:t>
            </a:r>
          </a:p>
          <a:p>
            <a:pPr marL="0" indent="0">
              <a:buNone/>
            </a:pPr>
            <a:endParaRPr lang="en-IN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955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4B95-AE77-5BBD-ABE5-85A51961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93929"/>
            <a:ext cx="9905998" cy="905482"/>
          </a:xfrm>
        </p:spPr>
        <p:txBody>
          <a:bodyPr>
            <a:normAutofit/>
          </a:bodyPr>
          <a:lstStyle/>
          <a:p>
            <a:r>
              <a:rPr lang="en-IN" sz="3200" cap="none" dirty="0"/>
              <a:t>Cluster-wise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493CA-B0BB-87D5-2115-D29333506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99411"/>
            <a:ext cx="9905999" cy="44917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</a:rPr>
              <a:t>1: High-Value Loyal Customers:</a:t>
            </a:r>
            <a:br>
              <a:rPr lang="en-IN" dirty="0"/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High purchase amount and frequent shopping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High review ratings</a:t>
            </a:r>
            <a:b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Regular use of subscriptions and promo codes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2: </a:t>
            </a:r>
            <a:r>
              <a:rPr lang="en-IN" dirty="0">
                <a:solidFill>
                  <a:srgbClr val="002060"/>
                </a:solidFill>
              </a:rPr>
              <a:t>Budget-Conscious Frequent Shoppers:          </a:t>
            </a:r>
            <a:br>
              <a:rPr lang="en-IN" dirty="0"/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Medium purchase amount</a:t>
            </a:r>
            <a:b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Frequent purchases with discounts</a:t>
            </a:r>
            <a:b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Sensitive to promotions and offers</a:t>
            </a:r>
          </a:p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</a:rPr>
              <a:t>3: Low-Engagement Occasional Customers</a:t>
            </a:r>
            <a:br>
              <a:rPr lang="en-IN" dirty="0"/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Low purchase frequency</a:t>
            </a:r>
            <a:b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Lower spending and mixed ratings</a:t>
            </a:r>
            <a:b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Minimal interaction with offers</a:t>
            </a:r>
          </a:p>
        </p:txBody>
      </p:sp>
    </p:spTree>
    <p:extLst>
      <p:ext uri="{BB962C8B-B14F-4D97-AF65-F5344CB8AC3E}">
        <p14:creationId xmlns:p14="http://schemas.microsoft.com/office/powerpoint/2010/main" val="1740088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5CB1-B0BC-2034-7271-6416FEA2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DB405-CC38-42CD-C3F3-1E9BAAC6E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7"/>
            <a:ext cx="9905999" cy="414239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Incorporated data analysis techniques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Customer segmentation helped identify distinct shopping behaviors.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K-Means clustering effectively grouped customers based on trends.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Data-driven insights enable targeted marketing and better customer retention.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MySQL doc: https://docs.google.com/document/d/1r7Dek8o6tCkwXAh4YS2mtwsmNS0TTwR0EHHFdGQJPhU/edit?usp=sharing</a:t>
            </a:r>
            <a:br>
              <a:rPr lang="en-US" sz="1600" dirty="0"/>
            </a:br>
            <a:r>
              <a:rPr lang="en-US" sz="1600" dirty="0"/>
              <a:t>Record Video link: 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https://www.loom.com/share/df52575117424b159435342114ea11f4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</a:rPr>
              <a:t> 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675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F6EA9-A365-3417-DB16-ABD2E5B04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36764"/>
            <a:ext cx="9905999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/>
              <a:t>Thank You</a:t>
            </a:r>
          </a:p>
          <a:p>
            <a:pPr marL="0" indent="0" algn="ctr">
              <a:buNone/>
            </a:pPr>
            <a:endParaRPr lang="en-US" sz="5400" dirty="0"/>
          </a:p>
          <a:p>
            <a:pPr marL="0" indent="0" algn="ctr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212174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798</TotalTime>
  <Words>1129</Words>
  <Application>Microsoft Office PowerPoint</Application>
  <PresentationFormat>Widescreen</PresentationFormat>
  <Paragraphs>123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Times New Roman</vt:lpstr>
      <vt:lpstr>Tw Cen MT</vt:lpstr>
      <vt:lpstr>Wingdings</vt:lpstr>
      <vt:lpstr>Circuit</vt:lpstr>
      <vt:lpstr>Customer Segmentation  Shopping Trends</vt:lpstr>
      <vt:lpstr>Introduction :</vt:lpstr>
      <vt:lpstr>Objectives : </vt:lpstr>
      <vt:lpstr>Attribute Information :</vt:lpstr>
      <vt:lpstr>Attribute Information : </vt:lpstr>
      <vt:lpstr>Tools &amp; Technologies Used:</vt:lpstr>
      <vt:lpstr>Methodology : </vt:lpstr>
      <vt:lpstr>Methodology : </vt:lpstr>
      <vt:lpstr>Database connection : </vt:lpstr>
      <vt:lpstr>PowerPoint Presentation</vt:lpstr>
      <vt:lpstr>STEP 1: Data Load And Check :</vt:lpstr>
      <vt:lpstr>EDA 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Cluster-wise Insights: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Zingade</dc:creator>
  <cp:lastModifiedBy>Omkar Zingade</cp:lastModifiedBy>
  <cp:revision>49</cp:revision>
  <dcterms:created xsi:type="dcterms:W3CDTF">2025-12-22T05:33:43Z</dcterms:created>
  <dcterms:modified xsi:type="dcterms:W3CDTF">2026-04-05T07:52:31Z</dcterms:modified>
</cp:coreProperties>
</file>